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87F70"/>
                </a:solidFill>
                <a:latin typeface="Arial"/>
              </a:defRPr>
            </a:pPr>
            <a:r>
              <a:t>VINCENT D / NGHIÊN CỨU SỨC KHỎE 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193431"/>
                </a:solidFill>
                <a:latin typeface="Arial"/>
              </a:defRPr>
            </a:pPr>
            <a:r>
              <a:t>Phân tích và dự đoán</a:t>
            </a:r>
          </a:p>
          <a:p>
            <a:pPr>
              <a:spcAft>
                <a:spcPts val="1600"/>
              </a:spcAft>
              <a:defRPr sz="3200" b="1">
                <a:solidFill>
                  <a:srgbClr val="193431"/>
                </a:solidFill>
                <a:latin typeface="Arial"/>
              </a:defRPr>
            </a:pPr>
            <a:r>
              <a:t>sức khỏe pin xe điện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Nguyễn Văn Duy · 2311553949 · 23DTH2A</a:t>
            </a:r>
          </a:p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Chuyên ngành Khoa Học Dữ Liệu</a:t>
            </a:r>
          </a:p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GVHD: ThS. Vương Xuân Chí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0766D"/>
                </a:solidFill>
                <a:latin typeface="Arial"/>
              </a:defRPr>
            </a:pPr>
            <a:r>
              <a:t>Nguyễn Văn Duy · MSSV 2311553949 · Khoa Học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0">
                <a:solidFill>
                  <a:srgbClr val="087F70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87F70"/>
                </a:solidFill>
                <a:latin typeface="Arial"/>
              </a:defRPr>
            </a:pPr>
            <a:r>
              <a:t>VINCENT D / NGHIÊN CỨU SỨC KHỎE 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193431"/>
                </a:solidFill>
                <a:latin typeface="Arial"/>
              </a:defRPr>
            </a:pPr>
            <a:r>
              <a:t>Bài toán nghiên cứu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Quan sát 120 giây đầu xả → ước lượng SOH</a:t>
            </a:r>
          </a:p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SOH = dung lượng xả / 2,4 Ah × 100</a:t>
            </a:r>
          </a:p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Thực nghiệm cấp tế bào trong phòng thí nghiệm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0766D"/>
                </a:solidFill>
                <a:latin typeface="Arial"/>
              </a:defRPr>
            </a:pPr>
            <a:r>
              <a:t>Nguyễn Văn Duy · MSSV 2311553949 · Khoa Học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0">
                <a:solidFill>
                  <a:srgbClr val="087F70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87F70"/>
                </a:solidFill>
                <a:latin typeface="Arial"/>
              </a:defRPr>
            </a:pPr>
            <a:r>
              <a:t>VINCENT D / NGHIÊN CỨU SỨC KHỎE 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193431"/>
                </a:solidFill>
                <a:latin typeface="Arial"/>
              </a:defRPr>
            </a:pPr>
            <a:r>
              <a:t>Nguồn dữ liệu SDU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Wang, Gao và Tian · Đại học Sơn Đông</a:t>
            </a:r>
          </a:p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Zenodo DOI: 10.5281/zenodo.14859405 · CC BY 4.0</a:t>
            </a:r>
          </a:p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86 pin NMC(532)/graphite qua hai giai đoạn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0766D"/>
                </a:solidFill>
                <a:latin typeface="Arial"/>
              </a:defRPr>
            </a:pPr>
            <a:r>
              <a:t>Nguyễn Văn Duy · MSSV 2311553949 · Khoa Học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0">
                <a:solidFill>
                  <a:srgbClr val="087F70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87F70"/>
                </a:solidFill>
                <a:latin typeface="Arial"/>
              </a:defRPr>
            </a:pPr>
            <a:r>
              <a:t>VINCENT D / NGHIÊN CỨU SỨC KHỎE 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193431"/>
                </a:solidFill>
                <a:latin typeface="Arial"/>
              </a:defRPr>
            </a:pPr>
            <a:r>
              <a:t>Từ nguồn đến dữ liệu mô hình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145.112.317 dòng nguồn → 30.929.675 dòng xả tham chiếu</a:t>
            </a:r>
          </a:p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Bản chọn: 10.000.000 dòng, đủ 20.823 chu kỳ</a:t>
            </a:r>
          </a:p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Giữ nguyên cửa sổ đầu xả; lấy thưa đoạn sau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0766D"/>
                </a:solidFill>
                <a:latin typeface="Arial"/>
              </a:defRPr>
            </a:pPr>
            <a:r>
              <a:t>Nguyễn Văn Duy · MSSV 2311553949 · Khoa Học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0">
                <a:solidFill>
                  <a:srgbClr val="087F70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87F70"/>
                </a:solidFill>
                <a:latin typeface="Arial"/>
              </a:defRPr>
            </a:pPr>
            <a:r>
              <a:t>VINCENT D / NGHIÊN CỨU SỨC KHỎE 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193431"/>
                </a:solidFill>
                <a:latin typeface="Arial"/>
              </a:defRPr>
            </a:pPr>
            <a:r>
              <a:t>SOH theo hai giai đoạn</a:t>
            </a:r>
          </a:p>
        </p:txBody>
      </p:sp>
      <p:pic>
        <p:nvPicPr>
          <p:cNvPr id="5" name="Picture 4" descr="soh_by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7" y="1828800"/>
            <a:ext cx="10789920" cy="3596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0766D"/>
                </a:solidFill>
                <a:latin typeface="Arial"/>
              </a:defRPr>
            </a:pPr>
            <a:r>
              <a:t>Nguyễn Văn Duy · MSSV 2311553949 · Khoa Học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0">
                <a:solidFill>
                  <a:srgbClr val="087F70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87F70"/>
                </a:solidFill>
                <a:latin typeface="Arial"/>
              </a:defRPr>
            </a:pPr>
            <a:r>
              <a:t>VINCENT D / NGHIÊN CỨU SỨC KHỎE 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193431"/>
                </a:solidFill>
                <a:latin typeface="Arial"/>
              </a:defRPr>
            </a:pPr>
            <a:r>
              <a:t>Chất lượng và truy xuất nguồn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Đối chiếu MD5 gói gốc và SHA-256 file được chọn</a:t>
            </a:r>
          </a:p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Không thiếu tín hiệu bắt buộc, không trùng khóa thời gian</a:t>
            </a:r>
          </a:p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25 điểm nghi vấn được giữ; không nằm trong 120 giây đầu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0766D"/>
                </a:solidFill>
                <a:latin typeface="Arial"/>
              </a:defRPr>
            </a:pPr>
            <a:r>
              <a:t>Nguyễn Văn Duy · MSSV 2311553949 · Khoa Học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0">
                <a:solidFill>
                  <a:srgbClr val="087F70"/>
                </a:solidFill>
                <a:latin typeface="Arial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87F70"/>
                </a:solidFill>
                <a:latin typeface="Arial"/>
              </a:defRPr>
            </a:pPr>
            <a:r>
              <a:t>VINCENT D / NGHIÊN CỨU SỨC KHỎE 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193431"/>
                </a:solidFill>
                <a:latin typeface="Arial"/>
              </a:defRPr>
            </a:pPr>
            <a:r>
              <a:t>Đặc trưng và nhãn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12 đặc trưng: chu kỳ, giai đoạn, thống kê V/I/T</a:t>
            </a:r>
          </a:p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Không dùng dung lượng, nhãn hoặc tín hiệu cuối chu kỳ</a:t>
            </a:r>
          </a:p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GRU: 25 vị trí × 3 tín hiệu + ngữ cảnh chu kỳ/giai đoạn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0766D"/>
                </a:solidFill>
                <a:latin typeface="Arial"/>
              </a:defRPr>
            </a:pPr>
            <a:r>
              <a:t>Nguyễn Văn Duy · MSSV 2311553949 · Khoa Học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0">
                <a:solidFill>
                  <a:srgbClr val="087F70"/>
                </a:solidFill>
                <a:latin typeface="Arial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87F70"/>
                </a:solidFill>
                <a:latin typeface="Arial"/>
              </a:defRPr>
            </a:pPr>
            <a:r>
              <a:t>VINCENT D / NGHIÊN CỨU SỨC KHỎE 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193431"/>
                </a:solidFill>
                <a:latin typeface="Arial"/>
              </a:defRPr>
            </a:pPr>
            <a:r>
              <a:t>Bốn mô hình và mốc đối chứng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Ridge: tuyến tính, điều chuẩn L2</a:t>
            </a:r>
          </a:p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Random Forest và LightGBM: quan hệ phi tuyến trên bảng</a:t>
            </a:r>
          </a:p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GRU: học chuỗi đầu xả; thêm mốc dự đoán trung bình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0766D"/>
                </a:solidFill>
                <a:latin typeface="Arial"/>
              </a:defRPr>
            </a:pPr>
            <a:r>
              <a:t>Nguyễn Văn Duy · MSSV 2311553949 · Khoa Học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0">
                <a:solidFill>
                  <a:srgbClr val="087F70"/>
                </a:solidFill>
                <a:latin typeface="Arial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87F70"/>
                </a:solidFill>
                <a:latin typeface="Arial"/>
              </a:defRPr>
            </a:pPr>
            <a:r>
              <a:t>VINCENT D / NGHIÊN CỨU SỨC KHỎE 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193431"/>
                </a:solidFill>
                <a:latin typeface="Arial"/>
              </a:defRPr>
            </a:pPr>
            <a:r>
              <a:t>Thiết kế kiểm thử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GroupKFold 5 vòng, chia theo 86 pin vật lý</a:t>
            </a:r>
          </a:p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Hai giai đoạn của một pin luôn ở cùng phía</a:t>
            </a:r>
          </a:p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Chuẩn hóa chỉ học trên train; cấu hình và seed cố định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0766D"/>
                </a:solidFill>
                <a:latin typeface="Arial"/>
              </a:defRPr>
            </a:pPr>
            <a:r>
              <a:t>Nguyễn Văn Duy · MSSV 2311553949 · Khoa Học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0">
                <a:solidFill>
                  <a:srgbClr val="087F70"/>
                </a:solidFill>
                <a:latin typeface="Arial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87F70"/>
                </a:solidFill>
                <a:latin typeface="Arial"/>
              </a:defRPr>
            </a:pPr>
            <a:r>
              <a:t>VINCENT D / NGHIÊN CỨU SỨC KHỎE 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193431"/>
                </a:solidFill>
                <a:latin typeface="Arial"/>
              </a:defRPr>
            </a:pPr>
            <a:r>
              <a:t>So sánh sai số</a:t>
            </a:r>
          </a:p>
        </p:txBody>
      </p:sp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47" y="1828800"/>
            <a:ext cx="102870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0766D"/>
                </a:solidFill>
                <a:latin typeface="Arial"/>
              </a:defRPr>
            </a:pPr>
            <a:r>
              <a:t>Nguyễn Văn Duy · MSSV 2311553949 · Khoa Học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0">
                <a:solidFill>
                  <a:srgbClr val="087F70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87F70"/>
                </a:solidFill>
                <a:latin typeface="Arial"/>
              </a:defRPr>
            </a:pPr>
            <a:r>
              <a:t>VINCENT D / NGHIÊN CỨU SỨC KHỎE 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193431"/>
                </a:solidFill>
                <a:latin typeface="Arial"/>
              </a:defRPr>
            </a:pPr>
            <a:r>
              <a:t>Kết quả Random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MAE: 1.619 điểm phần trăm SOH</a:t>
            </a:r>
          </a:p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RMSE: 2.157 · R²: 0.970</a:t>
            </a:r>
          </a:p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Chỉ số là trung bình theo pin giữ riêng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0766D"/>
                </a:solidFill>
                <a:latin typeface="Arial"/>
              </a:defRPr>
            </a:pPr>
            <a:r>
              <a:t>Nguyễn Văn Duy · MSSV 2311553949 · Khoa Học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0">
                <a:solidFill>
                  <a:srgbClr val="087F70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87F70"/>
                </a:solidFill>
                <a:latin typeface="Arial"/>
              </a:defRPr>
            </a:pPr>
            <a:r>
              <a:t>VINCENT D / NGHIÊN CỨU SỨC KHỎE 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193431"/>
                </a:solidFill>
                <a:latin typeface="Arial"/>
              </a:defRPr>
            </a:pPr>
            <a:r>
              <a:t>Thực tế và dự đoán</a:t>
            </a:r>
          </a:p>
        </p:txBody>
      </p:sp>
      <p:pic>
        <p:nvPicPr>
          <p:cNvPr id="5" name="Picture 4" descr="held_out_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747" y="1828800"/>
            <a:ext cx="61722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0766D"/>
                </a:solidFill>
                <a:latin typeface="Arial"/>
              </a:defRPr>
            </a:pPr>
            <a:r>
              <a:t>Nguyễn Văn Duy · MSSV 2311553949 · Khoa Học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0">
                <a:solidFill>
                  <a:srgbClr val="087F70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87F70"/>
                </a:solidFill>
                <a:latin typeface="Arial"/>
              </a:defRPr>
            </a:pPr>
            <a:r>
              <a:t>VINCENT D / NGHIÊN CỨU SỨC KHỎE 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193431"/>
                </a:solidFill>
                <a:latin typeface="Arial"/>
              </a:defRPr>
            </a:pPr>
            <a:r>
              <a:t>Sai số và giới hạn</a:t>
            </a:r>
          </a:p>
        </p:txBody>
      </p:sp>
      <p:pic>
        <p:nvPicPr>
          <p:cNvPr id="5" name="Picture 4" descr="erro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697" y="1828800"/>
            <a:ext cx="92583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0766D"/>
                </a:solidFill>
                <a:latin typeface="Arial"/>
              </a:defRPr>
            </a:pPr>
            <a:r>
              <a:t>Nguyễn Văn Duy · MSSV 2311553949 · Khoa Học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0">
                <a:solidFill>
                  <a:srgbClr val="087F70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87F70"/>
                </a:solidFill>
                <a:latin typeface="Arial"/>
              </a:defRPr>
            </a:pPr>
            <a:r>
              <a:t>VINCENT D / NGHIÊN CỨU SỨC KHỎE 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193431"/>
                </a:solidFill>
                <a:latin typeface="Arial"/>
              </a:defRPr>
            </a:pPr>
            <a:r>
              <a:t>Kiểm tra bổ sung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Bỏ số chu kỳ, bỏ giai đoạn, chỉ dùng điện áp</a:t>
            </a:r>
          </a:p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Kiểm thử riêng 70/30 theo thời gian trong từng pin/giai đoạn</a:t>
            </a:r>
          </a:p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Last known SOH: MAE 5.529</a:t>
            </a:r>
          </a:p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Random Forest: MAE 4.963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0766D"/>
                </a:solidFill>
                <a:latin typeface="Arial"/>
              </a:defRPr>
            </a:pPr>
            <a:r>
              <a:t>Nguyễn Văn Duy · MSSV 2311553949 · Khoa Học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0">
                <a:solidFill>
                  <a:srgbClr val="087F70"/>
                </a:solidFill>
                <a:latin typeface="Arial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87F70"/>
                </a:solidFill>
                <a:latin typeface="Arial"/>
              </a:defRPr>
            </a:pPr>
            <a:r>
              <a:t>VINCENT D / NGHIÊN CỨU SỨC KHỎE 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193431"/>
                </a:solidFill>
                <a:latin typeface="Arial"/>
              </a:defRPr>
            </a:pPr>
            <a:r>
              <a:t>Sản phẩm Vincent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Tra cứu hai giai đoạn, tín hiệu và so sánh chu kỳ</a:t>
            </a:r>
          </a:p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Dự đoán một/lô, lịch sử và phiếu kết quả</a:t>
            </a:r>
          </a:p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Chất lượng, nguồn dữ liệu và bảng thực nghiệm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0766D"/>
                </a:solidFill>
                <a:latin typeface="Arial"/>
              </a:defRPr>
            </a:pPr>
            <a:r>
              <a:t>Nguyễn Văn Duy · MSSV 2311553949 · Khoa Học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0">
                <a:solidFill>
                  <a:srgbClr val="087F70"/>
                </a:solidFill>
                <a:latin typeface="Arial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87F70"/>
                </a:solidFill>
                <a:latin typeface="Arial"/>
              </a:defRPr>
            </a:pPr>
            <a:r>
              <a:t>VINCENT D / NGHIÊN CỨU SỨC KHỎE 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193431"/>
                </a:solidFill>
                <a:latin typeface="Arial"/>
              </a:defRPr>
            </a:pPr>
            <a:r>
              <a:t>Giao diện ứng dụng</a:t>
            </a:r>
          </a:p>
        </p:txBody>
      </p:sp>
      <p:pic>
        <p:nvPicPr>
          <p:cNvPr id="5" name="Picture 4" descr="vincent_d_sdu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191" y="1828800"/>
            <a:ext cx="5925312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0766D"/>
                </a:solidFill>
                <a:latin typeface="Arial"/>
              </a:defRPr>
            </a:pPr>
            <a:r>
              <a:t>Nguyễn Văn Duy · MSSV 2311553949 · Khoa Học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0">
                <a:solidFill>
                  <a:srgbClr val="087F70"/>
                </a:solidFill>
                <a:latin typeface="Arial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87F70"/>
                </a:solidFill>
                <a:latin typeface="Arial"/>
              </a:defRPr>
            </a:pPr>
            <a:r>
              <a:t>VINCENT D / NGHIÊN CỨU SỨC KHỎE 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193431"/>
                </a:solidFill>
                <a:latin typeface="Arial"/>
              </a:defRPr>
            </a:pPr>
            <a:r>
              <a:t>Kết luận và hướng phát triển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Hoàn thành quy trình dữ liệu → mô hình → ứng dụng</a:t>
            </a:r>
          </a:p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Chưa kiểm chứng trên bộ pin xe thực tế tại Việt Nam</a:t>
            </a:r>
          </a:p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Mở rộng điều kiện vận hành, đánh giá độc lập và độ bất định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0766D"/>
                </a:solidFill>
                <a:latin typeface="Arial"/>
              </a:defRPr>
            </a:pPr>
            <a:r>
              <a:t>Nguyễn Văn Duy · MSSV 2311553949 · Khoa Học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0">
                <a:solidFill>
                  <a:srgbClr val="087F70"/>
                </a:solidFill>
                <a:latin typeface="Arial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87F70"/>
                </a:solidFill>
                <a:latin typeface="Arial"/>
              </a:defRPr>
            </a:pPr>
            <a:r>
              <a:t>VINCENT D / NGHIÊN CỨU SỨC KHỎE 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193431"/>
                </a:solidFill>
                <a:latin typeface="Arial"/>
              </a:defRPr>
            </a:pPr>
            <a:r>
              <a:t>Tài liệu và sản phẩm bàn giao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Mã nguồn, mô hình, bảng đặc trưng và dữ liệu nguồn</a:t>
            </a:r>
          </a:p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Notebook đã chạy, CSV thực nghiệm và biểu đồ</a:t>
            </a:r>
          </a:p>
          <a:p>
            <a:pPr>
              <a:spcAft>
                <a:spcPts val="1600"/>
              </a:spcAft>
              <a:defRPr sz="2400" b="0">
                <a:solidFill>
                  <a:srgbClr val="193431"/>
                </a:solidFill>
                <a:latin typeface="Arial"/>
              </a:defRPr>
            </a:pPr>
            <a:r>
              <a:t>• Báo cáo Word/PDF, slide và hồ sơ trích dẫn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60766D"/>
                </a:solidFill>
                <a:latin typeface="Arial"/>
              </a:defRPr>
            </a:pPr>
            <a:r>
              <a:t>Nguyễn Văn Duy · MSSV 2311553949 · Khoa Học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0">
                <a:solidFill>
                  <a:srgbClr val="087F70"/>
                </a:solidFill>
                <a:latin typeface="Arial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Nguyễn Văn Duy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